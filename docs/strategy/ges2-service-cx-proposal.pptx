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Оформление по дизайн-системе ГЭС-2: монохром, без скруглений и теней, вес на типографике. Шрифт Diagramatika проприетарный — верстка на fallback (Arial / Helvetica Neue).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утверждения, задающие рамку. Фото фасада — узнаваемость за секунду.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направлений. Дальше каждое раскрывается отдельным слайдом.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границы ответственности, а предмет совместной работы с каждой функцией.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Механизмы, а не намерения: горизонталь строится процедурами и деньгами, не призывами.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Порядок значим. Фотографию делаем сами: пройти как посетитель и снять две-три реальные точки трения.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Минимум показателей, по которым реально принимаются решения. Всё начинается с нулевого замера.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Разделение намеренное: одним обучением дефицит гостеприимства не закрывается, условия работы влияют не меньше.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Пять артефактов, которые появляются на выходе. Порядок: сначала диагностика, потом документы.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Скриншоты делаются самостоятельно за полчаса и работают как доказательство, а не иллюстрация.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Качество на стыках с внешними операторами обеспечивается договором, а не просьбами.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Платить за то, чтобы получить больше, укрепляет доверие. Платить за то, чтобы войти, испытывает его.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S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 культуры «ГЭС-2»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Предложение по улучшению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направления сервиса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spc="76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клиентского опыта ГЭС-2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7091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«Аудитория доверяет ГЭС-2 открывать новое искусство»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Сентябрь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Наше понимание задачи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Доверие аудитории — то,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ради чего существует сервис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2807208"/>
            <a:ext cx="640080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30632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Сервис не создаёт доверие,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он его исполняет и конвертирует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4178808"/>
            <a:ext cx="640080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44348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Периметр — весь путь, от поиска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spc="38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информации до выхода из здания</a:t>
            </a:r>
            <a:endParaRPr lang="en-US" sz="1900" dirty="0"/>
          </a:p>
        </p:txBody>
      </p:sp>
      <p:pic>
        <p:nvPicPr>
          <p:cNvPr id="8" name="Image 0" descr="/home/user/ges-2/docs/strategy/deck-image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89520" y="1691640"/>
            <a:ext cx="3959352" cy="40233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589520" y="1691640"/>
            <a:ext cx="3959352" cy="402336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Содержание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325880" y="1691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Горизонтальные связи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219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219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75234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523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163824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2826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2826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694176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813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813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224528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343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4343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754880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48737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87375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5285232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" y="540410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40410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2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5806440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pic>
        <p:nvPicPr>
          <p:cNvPr id="27" name="Image 0" descr="/home/user/ges-2/docs/strategy/deck-images/prospek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40880" y="1691640"/>
            <a:ext cx="4507992" cy="4251960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040880" y="1691640"/>
            <a:ext cx="4507992" cy="425196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кем работаем вместе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9844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Впечатление посетителя/клиента единое — складывается из работы нескольких команд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Продюсерский блок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Календарь и загрузка площадки, совместимость программных и коммерческих событий, окна на монтаж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3832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Маркетинг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Совпадение обещания и опыта: анонс должен сойтись с тем, что человек получает на входе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7548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Внутренние и внешние коммуникации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Единые формулировки во всех каналах, работа с публичными отзывами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116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Медиация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Общие стандарты разговора с посетителем: для гостя медиатор и сотрудник службы неразличимы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33832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Статус, условия и обучение фронт-линии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4754880"/>
            <a:ext cx="51023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Внешние операторы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Питание, клининг, паркинг, билетный сервис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выстраивается взаимодействие</a:t>
            </a:r>
            <a:endParaRPr lang="en-US" sz="3000" dirty="0"/>
          </a:p>
        </p:txBody>
      </p:sp>
      <p:pic>
        <p:nvPicPr>
          <p:cNvPr id="3" name="Image 0" descr="/home/user/ges-2/docs/strategy/deck-images/svod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4754880" cy="4114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691640"/>
            <a:ext cx="4754880" cy="411480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97880" y="1783080"/>
            <a:ext cx="5650992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совместные совещания с продюсерским и коммерческим блоками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Ротация сотрудников бэк-офиса в зал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Премиальный фонд для смежных подразделений в коммерческих проектах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Внутренняя мотивация и делегирование ответственности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Рабочая коммуникация в каналах, где люди действительно есть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Диагностика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78308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Пройти путь самостоятельно — цифровой и физический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69464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Профили посетителей и карты пути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319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55848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Blueprint: кто обеспечивает каждую точку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142232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Аудит площадки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892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44" kern="0" dirty="0">
                <a:solidFill>
                  <a:srgbClr val="C0C1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928616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Интервью: фронт-линия и посетители</a:t>
            </a:r>
            <a:endParaRPr lang="en-US" sz="1500" dirty="0"/>
          </a:p>
        </p:txBody>
      </p:sp>
      <p:pic>
        <p:nvPicPr>
          <p:cNvPr id="13" name="Image 0" descr="/home/user/ges-2/docs/strategy/deck-images/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691640"/>
            <a:ext cx="4645152" cy="4114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903720" y="1691640"/>
            <a:ext cx="4645152" cy="411480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Обратная связь и метрики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78638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468880"/>
                <a:gridCol w="1737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Что меряем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Чем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часто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Удовлетворённость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CSI / CSAT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Лёгкость взаимодействия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непрерывно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Лояльность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NPS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квартал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Доверие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индекс доверия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год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Удержание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повторные визиты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Средний чек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capita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9CA3A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месяц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50800" marB="508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144000" y="1783080"/>
            <a:ext cx="24048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Журнал обращений и отзывы — регулярный разбор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Тайный визит раз в год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Бэклог запросов с оценкой стоимости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 и гостеприимство</a:t>
            </a:r>
            <a:endParaRPr lang="en-US" sz="3000" dirty="0"/>
          </a:p>
        </p:txBody>
      </p:sp>
      <p:pic>
        <p:nvPicPr>
          <p:cNvPr id="3" name="Image 0" descr="/home/user/ges-2/docs/strategy/deck-images/media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691640"/>
            <a:ext cx="3931920" cy="41148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691640"/>
            <a:ext cx="3931920" cy="411480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74920" y="169164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2103120"/>
            <a:ext cx="6473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Гостеприимство как проверяемый навык: обучение, тестирование, внешние тренинги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Актуальные скрипты и база знаний онлайн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Регулярные воркшопы по программе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Гибридная роль «сервис + контент»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074920" y="3977640"/>
            <a:ext cx="6473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Условия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074920" y="4389120"/>
            <a:ext cx="6473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Карьерная лестница, поощрения, оплата, графики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Участие в общих собраниях, канал для идей с обязательным ответом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 по клиентскому опыту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Стандарты и документы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обслуживания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62072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Публичное обещание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посетителю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84064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85232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285232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Хендбук сотрудника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службы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06056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07224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507224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Регламент работы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обратной связью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528048" y="1783080"/>
            <a:ext cx="2011680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29216" y="19659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729216" y="324612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Матрица полномочий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фронт-линии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Стандарт обслуживания не пишется до аудита точек контакта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Цифровые сервисы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UI/UX сайта и цифровые пути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Мобильное приложение и веб-сервисы ГЭС-2 для посетителей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Жизненный цикл систем, переход на микросервисную архитектуру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852160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35040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1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события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836408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19288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регистрация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820656" y="1691640"/>
            <a:ext cx="1737360" cy="3291840"/>
          </a:xfrm>
          <a:prstGeom prst="rect">
            <a:avLst/>
          </a:prstGeom>
          <a:solidFill>
            <a:srgbClr val="EEEEEE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03536" y="2926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Экран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подтверждение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5120640"/>
            <a:ext cx="56967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Скриншоты текущего пути с пометками, где человек теряется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Площадка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 неполадок: увидел — сообщил — починили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Улучшение точек питания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с внешними операторами: питание, клининг, паркинг, билетный сервис</a:t>
            </a:r>
            <a:endParaRPr lang="en-US" sz="1500" dirty="0"/>
          </a:p>
        </p:txBody>
      </p:sp>
      <p:pic>
        <p:nvPicPr>
          <p:cNvPr id="4" name="Image 0" descr="/home/user/ges-2/docs/strategy/deck-images/platform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691640"/>
            <a:ext cx="5239512" cy="4023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09360" y="1691640"/>
            <a:ext cx="5239512" cy="402336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6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и продукты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существующем потоке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чек: магазин, питание, платные форматы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Патронаж и членство для частных лиц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434840" y="16916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Новые продукты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210312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 коммерческих сервисов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Монетизация «Сводов»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Инкубатор гипотез → MVP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 на внешнем рынке, арт-консалтинг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Выставки корпоративных коллекций партнёров</a:t>
            </a:r>
            <a:endParaRPr lang="en-US" sz="1300" dirty="0"/>
          </a:p>
        </p:txBody>
      </p:sp>
      <p:pic>
        <p:nvPicPr>
          <p:cNvPr id="7" name="Image 0" descr="/home/user/ges-2/docs/strategy/deck-images/book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0" y="1691640"/>
            <a:ext cx="3319272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0" y="1691640"/>
            <a:ext cx="3319272" cy="3657600"/>
          </a:xfrm>
          <a:prstGeom prst="rect">
            <a:avLst/>
          </a:prstGeom>
          <a:ln w="6350">
            <a:solidFill>
              <a:srgbClr val="00000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5623560"/>
            <a:ext cx="10911535" cy="0"/>
          </a:xfrm>
          <a:prstGeom prst="line">
            <a:avLst/>
          </a:prstGeom>
          <a:noFill/>
          <a:ln w="9525">
            <a:solidFill>
              <a:srgbClr val="EEEE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Принцип отбора — продаём углубление, а не доступ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2026-09-11T19:00:46Z</dcterms:created>
  <dcterms:modified xsi:type="dcterms:W3CDTF">2026-09-11T19:00:46Z</dcterms:modified>
</cp:coreProperties>
</file>