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Титул. Оформление по дизайн-системе ГЭС-2: монохром, без скруглений и теней, вес на типографике. Шрифт Diagramatika проприетарный - верстка на fallback (Arial / Helvetica Neue).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утверждения, задающие рамку. Фото фасада - узнаваемость за секунду.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Восемь направлений. Дальше каждое раскрывается отдельным слайдом.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Механизмы, а не намерения: горизонталь строится процедурами и деньгами, не призывами.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Порядок значим. Фотографию лучше заменить на собственный снимок реальной точки трения, сделанный при проходе пути.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Минимум показателей, по которым реально принимаются решения. Всё начинается с нулевого замера. Под таблицей - три постоянных источника обратной связи.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Разделение намеренное: одним обучением дефицит гостеприимства не закрывается, условия работы влияют не меньше.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Пять артефактов, которые появляются на выходе. Порядок: сначала диагностика, потом документы.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Скриншот главной страницы сайта. Снимается самостоятельно - из этой среды внешние сайты недоступны.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Качество на стыках с внешними операторами обеспечивается договором, а не просьбами.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Платить за то, чтобы получить больше, укрепляет доверие. Платить за то, чтобы войти, испытывает его.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ES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Дом культуры «ГЭС-2»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9601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800" spc="7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Предложение по улучшению</a:t>
            </a:r>
            <a:endParaRPr lang="en-US" sz="3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800" spc="7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направления сервиса</a:t>
            </a:r>
            <a:endParaRPr lang="en-US" sz="3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800" spc="7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клиентского опыта ГЭС-2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0916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«Аудитория доверяет ГЭС-2 открывать новое искусство»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989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Сентябрь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Понимание задачи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8308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spc="3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Доверие аудитории - то,</a:t>
            </a:r>
            <a:endParaRPr lang="en-US" sz="1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800" spc="3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ради чего существует сервис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2862072"/>
            <a:ext cx="566928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310896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spc="3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Сервис не создаёт доверие,</a:t>
            </a:r>
            <a:endParaRPr lang="en-US" sz="1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800" spc="3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он его исполняет и конвертирует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187952"/>
            <a:ext cx="566928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443484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spc="3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Периметр - весь путь, от поиска</a:t>
            </a:r>
            <a:endParaRPr lang="en-US" sz="1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800" spc="3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информации до выхода из здания</a:t>
            </a:r>
            <a:endParaRPr lang="en-US" sz="1800" dirty="0"/>
          </a:p>
        </p:txBody>
      </p:sp>
      <p:pic>
        <p:nvPicPr>
          <p:cNvPr id="8" name="Image 0" descr="/home/user/ges-2/docs/strategy/deck-images/facad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2103120"/>
            <a:ext cx="4873752" cy="324916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675120" y="2103120"/>
            <a:ext cx="4873752" cy="3249168"/>
          </a:xfrm>
          <a:prstGeom prst="rect">
            <a:avLst/>
          </a:prstGeom>
          <a:ln w="6350">
            <a:solidFill>
              <a:srgbClr val="00000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Содержание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373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737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Горизонтальные связи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21208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2677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2677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Диагностика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2679192"/>
            <a:ext cx="521208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79806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79806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Обратная связь и метрики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" y="3209544"/>
            <a:ext cx="521208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332841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332841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Персонал и гостеприимство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40080" y="3739896"/>
            <a:ext cx="521208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8587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280160" y="38587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Стандарты и документы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40080" y="4270248"/>
            <a:ext cx="521208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080" y="43891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4389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Цифровые сервисы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40080" y="4800600"/>
            <a:ext cx="521208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491947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49194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Площадка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40080" y="5330952"/>
            <a:ext cx="521208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0080" y="54498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280160" y="544982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Монетизация и продукты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40080" y="5861304"/>
            <a:ext cx="521208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pic>
        <p:nvPicPr>
          <p:cNvPr id="27" name="Image 0" descr="/home/user/ges-2/docs/strategy/deck-images/prospek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2148840"/>
            <a:ext cx="5239512" cy="3493008"/>
          </a:xfrm>
          <a:prstGeom prst="rect">
            <a:avLst/>
          </a:prstGeom>
        </p:spPr>
      </p:pic>
      <p:sp>
        <p:nvSpPr>
          <p:cNvPr id="28" name="Shape 25"/>
          <p:cNvSpPr/>
          <p:nvPr/>
        </p:nvSpPr>
        <p:spPr>
          <a:xfrm>
            <a:off x="6309360" y="2148840"/>
            <a:ext cx="5239512" cy="3493008"/>
          </a:xfrm>
          <a:prstGeom prst="rect">
            <a:avLst/>
          </a:prstGeom>
          <a:ln w="6350">
            <a:solidFill>
              <a:srgbClr val="000000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выстраивается взаимодействие</a:t>
            </a:r>
            <a:endParaRPr lang="en-US" sz="3000" dirty="0"/>
          </a:p>
        </p:txBody>
      </p:sp>
      <p:pic>
        <p:nvPicPr>
          <p:cNvPr id="3" name="Image 0" descr="/home/user/ges-2/docs/strategy/deck-images/svod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011680"/>
            <a:ext cx="4754880" cy="31699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2011680"/>
            <a:ext cx="4754880" cy="3169920"/>
          </a:xfrm>
          <a:prstGeom prst="rect">
            <a:avLst/>
          </a:prstGeom>
          <a:ln w="6350">
            <a:solidFill>
              <a:srgbClr val="00000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897880" y="1874520"/>
            <a:ext cx="565099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Регулярные совместные совещания с продюсерским и коммерческим блоками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Ротация сотрудников бэк-офиса в зал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Премиальный фонд для смежных подразделений в коммерческих проектах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Внутренняя мотивация и делегирование ответственности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Рабочая коммуникация в каналах, где люди действительно есть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Диагностика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379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44" kern="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87452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Пройти путь самостоятельно - цифровой и физический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5877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44" kern="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24328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Профили посетителей и карты пути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44" kern="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374136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Blueprint: кто обеспечивает каждую точку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0873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44" kern="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123944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Аудит площадки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48371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44" kern="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487375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Интервью: фронт-линия и посетители</a:t>
            </a:r>
            <a:endParaRPr lang="en-US" sz="1500" dirty="0"/>
          </a:p>
        </p:txBody>
      </p:sp>
      <p:pic>
        <p:nvPicPr>
          <p:cNvPr id="13" name="Image 0" descr="/home/user/ges-2/docs/strategy/deck-images/flo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2194560"/>
            <a:ext cx="4645152" cy="3096768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6903720" y="2194560"/>
            <a:ext cx="4645152" cy="3096768"/>
          </a:xfrm>
          <a:prstGeom prst="rect">
            <a:avLst/>
          </a:prstGeom>
          <a:ln w="6350">
            <a:solidFill>
              <a:srgbClr val="0000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Обратная связь и метрики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3200400"/>
                <a:gridCol w="2956255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Что меряем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Чем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Как часто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Удовлетворённость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CSI / CSAT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9CA3A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непрерывно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Лёгкость взаимодействия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9CA3A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непрерывно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Лояльность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NPS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9CA3A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квартал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Доверие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индекс доверия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9CA3A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год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Удержание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повторные визиты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9CA3A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месяц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Средний чек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 capita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9CA3A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месяц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40080" y="4983480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5212080"/>
            <a:ext cx="3392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Журнал обращений и отзывы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регулярный разбор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4398264" y="5212080"/>
            <a:ext cx="3392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Тайный визит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 в год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156448" y="5212080"/>
            <a:ext cx="3392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Бэклог запросов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оценкой стоимости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Персонал и гостеприимство</a:t>
            </a:r>
            <a:endParaRPr lang="en-US" sz="3000" dirty="0"/>
          </a:p>
        </p:txBody>
      </p:sp>
      <p:pic>
        <p:nvPicPr>
          <p:cNvPr id="3" name="Image 0" descr="/home/user/ges-2/docs/strategy/deck-images/mediati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83080"/>
            <a:ext cx="3931920" cy="2621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783080"/>
            <a:ext cx="3931920" cy="2621280"/>
          </a:xfrm>
          <a:prstGeom prst="rect">
            <a:avLst/>
          </a:prstGeom>
          <a:ln w="6350">
            <a:solidFill>
              <a:srgbClr val="00000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074920" y="1783080"/>
            <a:ext cx="6473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Навык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074920" y="2194560"/>
            <a:ext cx="64739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Гостеприимство как проверяемый навык: обучение, тестирование, внешние тренинги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Актуальные скрипты и база знаний онлайн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Регулярные воркшопы по программе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Гибридная роль «сервис + контент»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074920" y="4069080"/>
            <a:ext cx="6473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Условия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074920" y="4480560"/>
            <a:ext cx="64739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Карьерная лестница, поощрения, оплата, графики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Участие в общих собраниях, канал для идей с обязательным ответом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Директор по клиентскому опыту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Стандарты и документы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920240"/>
            <a:ext cx="201168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41248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41248" y="3566160"/>
            <a:ext cx="16093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Стандарт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обслуживания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862072" y="1920240"/>
            <a:ext cx="201168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063240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063240" y="3566160"/>
            <a:ext cx="16093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Публичное обещание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посетителю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84064" y="1920240"/>
            <a:ext cx="201168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285232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285232" y="3566160"/>
            <a:ext cx="16093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Хендбук сотрудника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службы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06056" y="1920240"/>
            <a:ext cx="201168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507224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507224" y="3566160"/>
            <a:ext cx="16093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Регламент работы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обратной связью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528048" y="1920240"/>
            <a:ext cx="201168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729216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729216" y="3566160"/>
            <a:ext cx="16093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Матрица полномочий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фронт-линии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Цифровые сервисы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7452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UI/UX сайта и цифровые пути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Мобильное приложение и веб-сервисы ГЭС-2 для посетителей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Жизненный цикл систем, переход на микросервисную архитектуру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852160" y="2011680"/>
            <a:ext cx="5696712" cy="3797808"/>
          </a:xfrm>
          <a:prstGeom prst="rect">
            <a:avLst/>
          </a:prstGeom>
          <a:solidFill>
            <a:srgbClr val="EEEEEE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35040" y="3499104"/>
            <a:ext cx="5330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Скриншот ges-2.org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Площадка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74520"/>
            <a:ext cx="5029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Чат неполадок: увидел - сообщил - починили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Улучшение точек питания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 с внешними операторами: питание, клининг, паркинг, билетный сервис</a:t>
            </a:r>
            <a:endParaRPr lang="en-US" sz="1500" dirty="0"/>
          </a:p>
        </p:txBody>
      </p:sp>
      <p:pic>
        <p:nvPicPr>
          <p:cNvPr id="4" name="Image 0" descr="/home/user/ges-2/docs/strategy/deck-images/platform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2148840"/>
            <a:ext cx="5239512" cy="34930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309360" y="2148840"/>
            <a:ext cx="5239512" cy="3493008"/>
          </a:xfrm>
          <a:prstGeom prst="rect">
            <a:avLst/>
          </a:prstGeom>
          <a:ln w="6350">
            <a:solidFill>
              <a:srgbClr val="000000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Монетизация и продукты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830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существующем потоке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9456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Средний чек: магазин, питание, платные форматы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Патронаж и членство для частных лиц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343400" y="1783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Новые продукты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343400" y="2194560"/>
            <a:ext cx="33832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Группа коммерческих сервисов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Монетизация «Сводов»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Инкубатор гипотез в MVP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Услуги на внешнем рынке, арт-консалтинг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Выставки корпоративных коллекций партнёров</a:t>
            </a:r>
            <a:endParaRPr lang="en-US" sz="1300" dirty="0"/>
          </a:p>
        </p:txBody>
      </p:sp>
      <p:pic>
        <p:nvPicPr>
          <p:cNvPr id="7" name="Image 0" descr="/home/user/ges-2/docs/strategy/deck-images/book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2194560"/>
            <a:ext cx="3593592" cy="23957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955280" y="2194560"/>
            <a:ext cx="3593592" cy="2395728"/>
          </a:xfrm>
          <a:prstGeom prst="rect">
            <a:avLst/>
          </a:prstGeom>
          <a:ln w="6350">
            <a:solidFill>
              <a:srgbClr val="0000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2026-09-11T19:22:27Z</dcterms:created>
  <dcterms:modified xsi:type="dcterms:W3CDTF">2026-09-11T19:22:27Z</dcterms:modified>
</cp:coreProperties>
</file>