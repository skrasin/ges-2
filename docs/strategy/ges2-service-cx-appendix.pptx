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Приложение к основной презентации. По одному слайду на группу, все пункты целиком.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Диагностика: 6 пунктов.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Обратная связь и метрики: 7 пунктов.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Персонал и гостеприимство: 9 пунктов.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Стандарты и документы: 5 пунктов.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Цифровые сервисы: 4 пунктов.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Площадка: 3 пунктов.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Укрепление горизонтальных связей: 6 пунктов.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Монетизация и продукты: 8 пунктов.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S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 культуры «ГЭС-2»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01168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spc="7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Приложение.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spc="7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список тезисов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977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 презентации «Предложение по улучшению направления сервиса и клиентского опыта ГЭС-2»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663440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4846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пунктов в восьми группах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Сентябрь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spc="5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Диагностика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722815" y="566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90472"/>
            <a:ext cx="10058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Самостоятельный анализ клиентских путей - цифрового и физического.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65376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95681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1938528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профилей посетителей и карт пути (CJM) для каждого из них: первый визит, семья с детьми, повторный посетитель, гость из региона/иностранец, профессионал, посетитель с инвалидностью, подросток.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578608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6700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2651760"/>
            <a:ext cx="10058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Построение Service Blueprint: кто и какими системами обеспечивает каждую точку контакта.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026664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11810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3099816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 площадки: навигация, вход и очередь, гардероб, туалеты, места для сидения, шум, освещение, доступность, точки отдыха, выход.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739896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83133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813048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Проведение интервью с сотрудниками фронт-линии (колл-центр, инфостойка и т.д.), изучение действующих скриптов и базы знаний.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4453128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45445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207008" y="4526280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Проведение глубинных интервью с посетителями для выявления инсайтов, которые в дальнейшем можно протестировать в опросах.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spc="5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Обратная связь и метрики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722815" y="566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90472"/>
            <a:ext cx="10058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журнала обращений и жалоб по темам, разбор на регулярной основе.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65376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95681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1938528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отзывов посетителей в открытых источниках и процесса работы с ними, включая социальные сети, на регулярной основе.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578608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6700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2651760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Фиксация нулевых замеров по набору метрик: удовлетворённость (CSI/CSAT), лёгкость взаимодействия (CES), лояльность (NPS), индекс доверия, повторные визиты, средний чек на посетителя.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3832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3364992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Построение процесса непрерывного опроса на сайте и в точках контакта, квартальные замеры индексов при необходимости, годовой замер индекса доверия.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005072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0965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4078224"/>
            <a:ext cx="10058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Получение обратной связи от медиации и клиентского сервиса.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4453128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45445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207008" y="4526280"/>
            <a:ext cx="10058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Введение годового цикла независимых тайных визитов по всей цепочке - от сайта до кафе/магазина и выхода.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4901184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49926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207008" y="4974336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Внедрение бэклога запросов от посетителей и сотрудников: приоритизация, анализ стоимости изменений и трансляция владельцам процессов и продуктов.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spc="5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Персонал и гостеприимство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722815" y="566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90472"/>
            <a:ext cx="10058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Введение регулярного обучения персонала фронт-линии.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37944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901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1883664"/>
            <a:ext cx="10058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Корректировка скриптов и базы знаний, поддержание их в актуальном состоянии.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231136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29514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2276856"/>
            <a:ext cx="10058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Внедрение тестирования сотрудников на знание стандартов и базы знаний.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624328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68833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2670048"/>
            <a:ext cx="10058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Проведение внешних тренингов по эмпатии и гостеприимству - ключевой дефицит текущего сервиса.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017520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0815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063240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Проведение регулярных воркшопов по программе: произведение или тема с тезисами, которые сотрудник может рассказать.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675888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73989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207008" y="3721608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Введение гибридной роли «сервис + контент»: сотрудник отвечает и на операционный, и на содержательный вопрос без переадресации.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4334256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43982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207008" y="4379976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Пересмотр статуса и условий фронт-линии: карьерная лестница, поощрения, оплата, графики, включение в общие собрания, канал для идей с обязательным ответом.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4992624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505663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207008" y="5038344"/>
            <a:ext cx="10058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Внедрение базы знаний онлайн.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0080" y="5385816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54498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207008" y="5431536"/>
            <a:ext cx="10058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Введение должности директора по клиентскому опыту.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spc="5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Стандарты и документы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722815" y="566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90472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стандарта обслуживания: что посетитель вправе ожидать в каждой точке контакта и на какие вопросы должен получить ответ.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30552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2219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2203704"/>
            <a:ext cx="10058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Публикация обещания посетителю - внешняя версия стандарта обслуживания.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578608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6700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2651760"/>
            <a:ext cx="10058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хендбука сотрудника службы: правила, политики, сценарии, действия в чрезвычайных ситуациях.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026664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11810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3099816"/>
            <a:ext cx="10058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регламента работы с обратной связью.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474720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5661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547872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Утверждение матрицы полномочий фронт-линии: что сотрудник вправе решить на месте без согласования - возврат, компенсация, повторный визит, эскалация.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spc="5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Цифровые сервисы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722815" y="566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90472"/>
            <a:ext cx="10058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Доработка цифровых путей и процессов по результатам диагностики и анализа.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65376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95681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1938528"/>
            <a:ext cx="10058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Пересмотр UI/UX сайта.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313432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4048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2386584"/>
            <a:ext cx="10058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Развитие мобильного приложения и веб-сервисов ГЭС-2 для посетителей.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761488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8529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2834640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Выстраивание жизненного цикла автоматизированных систем, переход на микросервисную архитектуру по внутренним системам и сайту.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spc="5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Площадка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722815" y="566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90472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Внедрение практики моментального информирования (чат): любой сотрудник может сообщить о неполадке - луже, сломанной плитке, ручке.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30552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2219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2203704"/>
            <a:ext cx="10058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Улучшение точек питания.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578608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6700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2651760"/>
            <a:ext cx="10058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Заключение SLA с внешними операторами: питание, клининг, паркинг, билетный сервис.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spc="5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Укрепление горизонтальных связей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722815" y="566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90472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Проведение регулярных совместных совещаний между программным и коммерческим блоками для выстраивания взаимодействия и отработки запросов.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30552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2219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2203704"/>
            <a:ext cx="10058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Введение практики ротации сотрудников бэк-офиса в зал, включая программный блок - одна-две смены в год.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578608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6700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2651760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премиального фонда для компенсации ресурсов смежных подразделений, участвующих в коммерческих мероприятиях.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3832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3364992"/>
            <a:ext cx="10058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программы внутренней мотивации сотрудников - геймификация, поощрения, командировки.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739896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83133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813048"/>
            <a:ext cx="10058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Делегирование ответственности.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4187952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42793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207008" y="4261104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Внедрение мобильного приложения для сотрудников и перевод рабочей коммуникации в каналы, где люди действительно находятся.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spc="5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Монетизация и продукты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722815" y="566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90472"/>
            <a:ext cx="10058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Проектирование группы коммерческих сервисов - участники, процессы.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37944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901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1883664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короткого цикла проверки гипотез - инкубатор: гипотеза вбрасывается, эксперты дают критику, выжившая превращается в MVP.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496312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603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2542032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Проработка стратегии патронажа и спонсорства для индивидуальных лиц, а не корпоративных партнёров: членство, участие в создании искусства, привилегии.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2186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3200400"/>
            <a:ext cx="10058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Мониторинг и рост среднего чека внутри здания - магазин, питание, платные форматы.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547872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6118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593592"/>
            <a:ext cx="10058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Оказание услуг на внешнем рынке: медиапроизводство, продюсерский консалтинг - с возможностью премирования.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941064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4005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207008" y="3986784"/>
            <a:ext cx="10058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Развитие арт-консалтинга.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4334256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43982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207008" y="4379976"/>
            <a:ext cx="10058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Развитие направления выставок корпоративных коллекций партнёров.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4727448"/>
            <a:ext cx="10911535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479145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207008" y="4773168"/>
            <a:ext cx="10058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Монетизация «Сводов»: платный доступ к мастерским и студиям, коммерческие производственные заказы.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2026-09-12T12:16:09Z</dcterms:created>
  <dcterms:modified xsi:type="dcterms:W3CDTF">2026-09-12T12:16:09Z</dcterms:modified>
</cp:coreProperties>
</file>